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2" y="457200"/>
            <a:ext cx="1536192" cy="1536192"/>
          </a:xfrm>
          <a:prstGeom prst="ellipse">
            <a:avLst/>
          </a:prstGeom>
          <a:solidFill>
            <a:srgbClr val="FBFBF7"/>
          </a:solidFill>
          <a:ln/>
        </p:spPr>
      </p:sp>
      <p:pic>
        <p:nvPicPr>
          <p:cNvPr id="3" name="Image 0" descr="/root/meika_build/mockup/icons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630936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400" kern="0" dirty="0">
                <a:solidFill>
                  <a:srgbClr val="FB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MEIKA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1527048" y="28803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Personal Financial Copilot for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Budgeting, Goal Forecasting, and Financial Risk Analysis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184648" y="3886200"/>
            <a:ext cx="1828800" cy="0"/>
          </a:xfrm>
          <a:prstGeom prst="line">
            <a:avLst/>
          </a:prstGeom>
          <a:noFill/>
          <a:ln w="19050">
            <a:solidFill>
              <a:srgbClr val="889A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041648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88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PHASE-I REVIEW 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4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 Linton Prince (23CU0330010)  ·  Kannapiran R (23CU0330020)  ·  Baskar Adithiya S (23CU0330006)
</a:t>
            </a:r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4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John Aravindhar  ·  Department of Computer Science &amp; Engineering (AI &amp; ML), 7th Semester
</a:t>
            </a:r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4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 Institute of Technology and Science  ·  Academic Year 2026–2027  ·  14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 finance needs an explainable copilot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4D8"/>
            </a:solidFill>
            <a:prstDash val="solid"/>
          </a:ln>
        </p:spPr>
      </p:sp>
      <p:pic>
        <p:nvPicPr>
          <p:cNvPr id="5" name="Image 0" descr="/root/meika_build/mockup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9280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+ Explainable AI (XAI) — intelligent personal financial-management software for everyday users.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4D8"/>
            </a:solidFill>
            <a:prstDash val="solid"/>
          </a:ln>
        </p:spPr>
      </p:sp>
      <p:pic>
        <p:nvPicPr>
          <p:cNvPr id="9" name="Image 1" descr="/root/meika_build/mockup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9280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476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25603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money is a daily task for almost everyone — students, employees, freelancers, and families — yet most tools only record what already happened.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913632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4D8"/>
            </a:solidFill>
            <a:prstDash val="solid"/>
          </a:ln>
        </p:spPr>
      </p:sp>
      <p:pic>
        <p:nvPicPr>
          <p:cNvPr id="13" name="Image 2" descr="/root/meika_build/mockup/icons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1696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77240" y="478231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predictions are becoming common, but users distrust advice they can't verify. Explainability is the gap between “tracking money” and “understanding money.”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3913632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4D8"/>
            </a:solidFill>
            <a:prstDash val="solid"/>
          </a:ln>
        </p:spPr>
      </p:sp>
      <p:pic>
        <p:nvPicPr>
          <p:cNvPr id="17" name="Image 3" descr="/root/meika_build/mockup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148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696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92240" y="478231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Meika pairs predictive budgeting and goal forecasting with an XAI copilot — every prediction ships with the computed factors behind it.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 apps track the past.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don't explain the future.</a:t>
            </a:r>
            <a:endParaRPr lang="en-US" sz="2700" dirty="0"/>
          </a:p>
        </p:txBody>
      </p:sp>
      <p:pic>
        <p:nvPicPr>
          <p:cNvPr id="4" name="Image 0" descr="/root/meika_build/mockup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prediction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383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log transactions and produce simple reports — they don't forecast where a user's finances are headed.</a:t>
            </a:r>
            <a:endParaRPr lang="en-US" sz="1150" dirty="0"/>
          </a:p>
        </p:txBody>
      </p:sp>
      <p:pic>
        <p:nvPicPr>
          <p:cNvPr id="7" name="Image 1" descr="/root/meika_build/mockup/icons/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6596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900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transparent reasoning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429000" y="3383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predictions do exist, users see an output with no explanation of how it was produced — eroding trust in AI-driven advice.</a:t>
            </a:r>
            <a:endParaRPr lang="en-US" sz="1150" dirty="0"/>
          </a:p>
        </p:txBody>
      </p:sp>
      <p:pic>
        <p:nvPicPr>
          <p:cNvPr id="10" name="Image 2" descr="/root/meika_build/mockup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6596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0936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goal forecasting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309360" y="3383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savings and goal-achievement forecasting is largely absent from mainstream expense trackers.</a:t>
            </a:r>
            <a:endParaRPr lang="en-US" sz="1150" dirty="0"/>
          </a:p>
        </p:txBody>
      </p:sp>
      <p:pic>
        <p:nvPicPr>
          <p:cNvPr id="13" name="Image 3" descr="/root/meika_build/mockup/icons/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96596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8972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risk analysis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189720" y="3383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 and cash-flow risk are rarely surfaced proactively, before they become a problem.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9EFE6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solving:  </a:t>
            </a:r>
            <a:pPr indent="0" marL="0">
              <a:buNone/>
            </a:pPr>
            <a:r>
              <a:rPr lang="en-US" sz="12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couple prediction with a black box, or skip prediction entirely. Meika treats explainability as a design constraint, not an add-on.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 five measurable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/root/meika_build/mockup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3677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36776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budgeting engine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965960" y="196596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month-end spend from live transaction history and current-month velocity, with alerts before overspending occurs.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/root/meika_build/mockup/icons/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3288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25328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Clarity Score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965960" y="28620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financial risk score from ≥ 3 auditable factors (pace, projection, concentration) — every number traceable to source data.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/root/meika_build/mockup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42900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429000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forecasting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965960" y="37581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whether a savings or spending goal is on track, updated in real time as new expenses are logged.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/root/meika_build/mockup/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325112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325112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conversational copilot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965960" y="465429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chat reply in computed XAI factors — zero fabricated figures or explanations.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/root/meika_build/mockup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221224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65960" y="5221224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20% functional implementation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965960" y="55504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3 live, tested REST modules (health, expense, dashboard) by the Phase-I Review 1 milestone.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today's budgeting apps do — and don't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E4E4D8"/>
            </a:solidFill>
            <a:prstDash val="solid"/>
          </a:ln>
        </p:spPr>
      </p:sp>
      <p:pic>
        <p:nvPicPr>
          <p:cNvPr id="5" name="Image 0" descr="/root/meika_build/mockup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/ existing method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or semi-automated expense logging, synced from linked accounts.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Retrospective reports and charts of past spending.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Technologies: rule-based categorization, basic ML classifiers, cloud sync, occasional robo-advisors for investment.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AI predictions exist, they are shown as a bare output.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C1543C"/>
            </a:solidFill>
            <a:prstDash val="solid"/>
          </a:ln>
        </p:spPr>
      </p:sp>
      <p:pic>
        <p:nvPicPr>
          <p:cNvPr id="9" name="Image 1" descr="/root/meika_build/mockup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/ problems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Retrospective only — issues surface after they've already happened.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Black-box AI recommendations reduce user trust (confirmed by Saini et al., 2025).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unified, real-time, cross-platform view — tools handle isolated tasks (Unde et al., 2026).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Goal-based forecasting and proactive risk analysis are largely absent.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recent papers, one consistent gap  ·  Part 1 of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&amp; Year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49240" y="1508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Technology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46920" y="1508760"/>
            <a:ext cx="1947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874520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Pathak, B. (2010)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874520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Comparison Shopping Agent-Based Decision Support Systems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49240" y="1874520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framework — data / model / interface / user-customization components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680960" y="1874520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Formalizes a 4-component decision-support model reused to justify Meika's architecture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646920" y="1874520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Pre-dates AI/LLM era; no treatment of explainability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11091672" cy="96926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43784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Kakulapati et al. (2026)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2843784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Expense Tracker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2843784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predictive expense tracking (Grenze)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680960" y="2843784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categorization and forecasts near-term spend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646920" y="2843784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layer; predictions given without reasoning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94360" y="3813048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813048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et al. (2024)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3813048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Large Language Models for Financial Applications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49240" y="3813048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LLM techniques, arXiv:2406.11903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7680960" y="3813048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LLM capabilities across financial NLP tasks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9646920" y="3813048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survey; not a deployed personal-budgeting/advisory system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48640" y="4782312"/>
            <a:ext cx="11091672" cy="96926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782312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4782312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 C G et al. (2026)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0" y="4782312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Finance Management Platform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9240" y="4782312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finance management platform (IEEE ICSFT)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7680960" y="4782312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automated insights across income/expense tracking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9646920" y="4782312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transparent-reasoning layer behind the insights shown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94360" y="5751576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5751576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Ganta et al. (2025)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17520" y="5751576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Multi-Module Financial Assistant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49240" y="5751576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ML assistant — budgeting + risk + advisory (IEEE CSITSS)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7680960" y="5751576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in scope: combines budgeting, risk, and advisory in one system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9646920" y="5751576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remain opaque — no factor-level explanation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recent papers, one consistent gap  ·  Part 2 of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&amp; Year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49240" y="1508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Technology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46920" y="1508760"/>
            <a:ext cx="1947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874520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Li &amp; Cao (2025)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874520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Finance and AI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49240" y="1874520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review, Digital Finance (Springer)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680960" y="1874520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how AI methods map onto financial decision-making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646920" y="1874520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only — no forecasting or XAI implementation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11091672" cy="96926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43784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Badiger et al. (2026)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2843784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Next.js-Powered AI Platform for Smart Expense Tracking, Budgeting &amp; Insights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2843784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stack (Next.js) + AI insights (SSRN 6615358)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680960" y="2843784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 production-style tracking + insights web app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646920" y="2843784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predictive risk analysis; no explainability layer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94360" y="3813048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813048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 S.P. et al. (2026)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3813048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Real-Time Personal Finance Dashboard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49240" y="3813048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CNN/OCR receipts + BERT/LSTM categorization + anomaly detection + LLM advisory (IJARP)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7680960" y="3813048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real-time dashboard integrating 4 AI subsystems; own gap analysis confirms most tools are isolated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9646920" y="3813048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multi-model pipeline; no explainability treatment of its own recommendations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48640" y="4782312"/>
            <a:ext cx="11091672" cy="96926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782312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4782312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Saini et al. (2025)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0" y="4782312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Finance Management Applications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9240" y="4782312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ML / NLP / predictive analytics / robo-advisor techniques (IEEE WorldS4AS)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7680960" y="4782312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user trust rises as AI shifts “from black-boxed to transparent and explanative”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9646920" y="4782312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 only — no prototype; directly validates the trust gap Meika targets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94360" y="5751576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5751576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 et al. (2026)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17520" y="5751576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Finance: AI-Powered Financial Goal Planner for Personalized Budgeting &amp; Investment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49240" y="5751576"/>
            <a:ext cx="2240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Random Forest (91%/88% acc.) + nudge theory (IJRISS)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7680960" y="5751576"/>
            <a:ext cx="18745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 for financial health scoring and user segmentation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9646920" y="5751576"/>
            <a:ext cx="19476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treatment; forecasting (ARIMA) and bank integration left as future work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— and how Meika closes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literature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shows 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0" y="169164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Meika addresses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given without reasoning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205740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Kakulapati, Deepthi C G, Ganta et 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2057400"/>
            <a:ext cx="4050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Score built from named, auditable factors surfaced directly in the UI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1672" cy="78638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43784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AI reduces user trust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84378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Saini et al. (2025) survey finding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2843784"/>
            <a:ext cx="4050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rule-based scoring — not a trained black-box model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22960" y="3630168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Isolated, single-purpose tools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363016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 S.P. et al. (2026)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3630168"/>
            <a:ext cx="4050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decoupled backend unifying expense, budgeting, and (planned) advisory in a single schema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11091672" cy="78638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16552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work, no forecasting shipped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41655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et al., Khan/Li/Cao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4416552"/>
            <a:ext cx="4050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spending-velocity + month-end projection computed from live Postgres data today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22960" y="5202936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explainable goal-forecasting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520293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 et al. (2026)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5202936"/>
            <a:ext cx="4050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Goal-forecasting on the roadmap, held to the same explainability standard from day one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· REFINED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re-stated against the research gap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/root/meika_build/mockup/icons/shiel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3677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36776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black-box outputs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965960" y="196596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Clarity Score components traceable to named XAIFactor objects (closes Gaps 1–2).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/root/meika_build/mockup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3288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253288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Unify fragmented tools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965960" y="28620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and service layer spanning expense tracking, budgeting, and planned price-comparison + advisory (closes Gap 3).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/root/meika_build/mockup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42900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429000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working forecasting, not concept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965960" y="37581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spending-velocity and month-end projection computed from real Postgres data (closes Gap 4).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/root/meika_build/mockup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325112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325112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to explainable goal-forecasting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965960" y="465429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explainability standard when goal-tracking ships (closes Gap 5).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/root/meika_build/mockup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221224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65960" y="5221224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≥ 20% functional completion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965960" y="55504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live, automatically-tested REST endpoints running today — shown in this review.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runs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889A7B"/>
            </a:solidFill>
            <a:prstDash val="solid"/>
          </a:ln>
        </p:spPr>
      </p:sp>
      <p:pic>
        <p:nvPicPr>
          <p:cNvPr id="5" name="Image 0" descr="/root/meika_build/mockup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8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operational data  ·  IN USE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own Expense API — not a static training dataset.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seeded transactions across 6 categories (seed_dev_user.py), growing with real usage.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amount, store, transit cost/mode, date, user_id.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validation, category-enum normalization, UTC timestamps, tenant isolation by user_id.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9050">
            <a:solidFill>
              <a:srgbClr val="C98A3A"/>
            </a:solidFill>
            <a:prstDash val="solid"/>
          </a:ln>
        </p:spPr>
      </p:sp>
      <p:pic>
        <p:nvPicPr>
          <p:cNvPr id="9" name="Image 1" descr="/root/meika_build/mockup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Seoul retail catalog  ·  PLANNED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Product / ProductListing / PriceQuote schema, modeled and migrated.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Price-Finder / true-economic-cost comparison module.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seeded with real or synthetic price data — the open item for Phase 3.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Meika, next to what it replaces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0" y="169164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Meika (proposed)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reports only, or opaque ML where present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315200" y="2057400"/>
            <a:ext cx="43251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velocity + month-end projection, fully explainable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1672" cy="78638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43784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/ transparency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843784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outputs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315200" y="2843784"/>
            <a:ext cx="43251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XAIFactor objects surfaced with every score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22960" y="363016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63016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or basic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7315200" y="3630168"/>
            <a:ext cx="43251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Goal-forecasting against live spend trend (roadmap)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11091672" cy="786384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16552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416552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reactive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315200" y="4416552"/>
            <a:ext cx="43251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Clarity Score with overspending alerts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22960" y="520293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520293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single-purpose tools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7315200" y="5202936"/>
            <a:ext cx="43251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FastAPI + PostgreSQL backend, one tenant-isolated schema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Finalized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monorepo — Flutter client, layered FastAPI backend, PostgreSQL, and a bounded Gemini reasoning layer.</a:t>
            </a:r>
            <a:endParaRPr lang="en-US" sz="1250" dirty="0"/>
          </a:p>
        </p:txBody>
      </p:sp>
      <p:pic>
        <p:nvPicPr>
          <p:cNvPr id="5" name="Image 0" descr="/root/meika_build/mockup/architecture_br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4484" y="1645920"/>
            <a:ext cx="2959985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/root/meika_build/mockup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36776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459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65960" y="1965960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an expense in the Flutter app — Dio sends it to the REST API.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77240" y="2194560"/>
            <a:ext cx="0" cy="292608"/>
          </a:xfrm>
          <a:prstGeom prst="line">
            <a:avLst/>
          </a:prstGeom>
          <a:noFill/>
          <a:ln w="19050">
            <a:solidFill>
              <a:srgbClr val="E4E4D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2441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2" name="Image 1" descr="/root/meika_build/mockup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86584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239572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965960" y="2715768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via Pydantic and writes to PostgreSQL through async SQLAlchemy, scoped to user_id.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777240" y="2944368"/>
            <a:ext cx="0" cy="292608"/>
          </a:xfrm>
          <a:prstGeom prst="line">
            <a:avLst/>
          </a:prstGeom>
          <a:noFill/>
          <a:ln w="19050">
            <a:solidFill>
              <a:srgbClr val="E4E4D8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48640" y="31912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18" name="Image 2" descr="/root/meika_build/mockup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13639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314553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965960" y="3465576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dashboard_service derives spending velocity, month-end projection, and category concentration from live rows.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777240" y="3694176"/>
            <a:ext cx="0" cy="292608"/>
          </a:xfrm>
          <a:prstGeom prst="line">
            <a:avLst/>
          </a:prstGeom>
          <a:noFill/>
          <a:ln w="19050">
            <a:solidFill>
              <a:srgbClr val="E4E4D8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3" descr="/root/meika_build/mockup/icons/shiel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65960" y="389534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965960" y="4215384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assembled into named XAIFactor objects (label, detail, value) that make up the Clarity Score.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777240" y="4443984"/>
            <a:ext cx="0" cy="292608"/>
          </a:xfrm>
          <a:prstGeom prst="line">
            <a:avLst/>
          </a:prstGeom>
          <a:noFill/>
          <a:ln w="19050">
            <a:solidFill>
              <a:srgbClr val="E4E4D8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48640" y="4690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30" name="Image 4" descr="/root/meika_build/mockup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63600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65960" y="464515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965960" y="4965192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Flutter UI renders the score together with its factors — never a bare number.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777240" y="5193792"/>
            <a:ext cx="0" cy="292608"/>
          </a:xfrm>
          <a:prstGeom prst="line">
            <a:avLst/>
          </a:prstGeom>
          <a:noFill/>
          <a:ln w="19050">
            <a:solidFill>
              <a:srgbClr val="E4E4D8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548640" y="5440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89A7B"/>
          </a:solidFill>
          <a:ln/>
        </p:spPr>
      </p:sp>
      <p:sp>
        <p:nvSpPr>
          <p:cNvPr id="35" name="Text 28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pic>
        <p:nvPicPr>
          <p:cNvPr id="36" name="Image 5" descr="/root/meika_build/mockup/icons/ch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385816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965960" y="5394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 (planned)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965960" y="5715000"/>
            <a:ext cx="9326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copilot reasons only over these computed factors when answering a question — it never fabricates figures.</a:t>
            </a:r>
            <a:endParaRPr lang="en-US" sz="1080" dirty="0"/>
          </a:p>
        </p:txBody>
      </p:sp>
      <p:sp>
        <p:nvSpPr>
          <p:cNvPr id="39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Languages, frameworks, and 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Dart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1091672" cy="621792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framework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49040" y="231343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Pydantic, Uvicorn (ASGI)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822960" y="293522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framework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0" y="2935224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— Riverpod state management, Dio HTTP client, custom Zen Garden design system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11091672" cy="621792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5701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ORM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355701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16, SQLAlchemy 2.0 (async), Alembic migrations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822960" y="417880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XAI layer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4178808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factor-based scoring engine; Gemini LLM (planned, bounded to explanation generation only)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621792"/>
          </a:xfrm>
          <a:prstGeom prst="rect">
            <a:avLst/>
          </a:prstGeom>
          <a:solidFill>
            <a:srgbClr val="E9EFE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0060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tooling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48006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asyncpg, Git, Playwright (QA tooling)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822960" y="54223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/ environment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49040" y="542239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developer laptop + cloud-hosted PostgreSQL instance — no GPU required, no model training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module — 20% of project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F2F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89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 endpoints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AF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expenses · dashboard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355848" y="16459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F2F2F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89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65576" y="228600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65576" y="256032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AF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 real Postgres schema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163056" y="16459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F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89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11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72784" y="228600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72784" y="256032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AF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run this session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970264" y="16459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2F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8970264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89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079992" y="228600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XAI factors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79992" y="2560320"/>
            <a:ext cx="2386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AF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pace, projection, concentration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94360" y="3246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45920" y="3246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549640" y="328269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28269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6118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schema, models, migrations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549640" y="36484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364845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977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45920" y="39776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logic (velocity, Clarity Score / Price-Finder)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549640" y="40142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8A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0142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4343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0" y="4343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Copilot WebSocket integration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549640" y="437997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8B8AC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437997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" y="47091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4592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system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549640" y="47457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6E8062"/>
          </a:solidFill>
          <a:ln/>
        </p:spPr>
      </p:sp>
      <p:sp>
        <p:nvSpPr>
          <p:cNvPr id="39" name="Text 37"/>
          <p:cNvSpPr/>
          <p:nvPr/>
        </p:nvSpPr>
        <p:spPr>
          <a:xfrm>
            <a:off x="8549640" y="47457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" y="5074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45920" y="5074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budgeting UI / Price-Finder screen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8549640" y="511149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8A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49640" y="511149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" y="5440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45920" y="54406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UI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549640" y="54772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8B8AC"/>
          </a:solidFill>
          <a:ln/>
        </p:spPr>
      </p:sp>
      <p:sp>
        <p:nvSpPr>
          <p:cNvPr id="47" name="Text 45"/>
          <p:cNvSpPr/>
          <p:nvPr/>
        </p:nvSpPr>
        <p:spPr>
          <a:xfrm>
            <a:off x="8549640" y="547725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" y="5806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645920" y="58064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JWT auth, rate limiting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8549640" y="58430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8B8AC"/>
          </a:solidFill>
          <a:ln/>
        </p:spPr>
      </p:sp>
      <p:sp>
        <p:nvSpPr>
          <p:cNvPr id="51" name="Text 49"/>
          <p:cNvSpPr/>
          <p:nvPr/>
        </p:nvSpPr>
        <p:spPr>
          <a:xfrm>
            <a:off x="8549640" y="58430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6281928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E9EFE6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6281928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</a:t>
            </a:r>
            <a:pPr indent="0" marL="0">
              <a:buNone/>
            </a:pPr>
            <a:r>
              <a:rPr lang="en-US" sz="10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Price-Finder catalog, wire the Gemini copilot to the WebSocket, and replace the interim auth header with JWT.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8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— REAL COMPUTED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Budget screens</a:t>
            </a:r>
            <a:endParaRPr lang="en-US" sz="2800" dirty="0"/>
          </a:p>
        </p:txBody>
      </p:sp>
      <p:pic>
        <p:nvPicPr>
          <p:cNvPr id="4" name="Image 0" descr="/root/meika_build/mockup/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17320"/>
            <a:ext cx="2049274" cy="4434840"/>
          </a:xfrm>
          <a:prstGeom prst="rect">
            <a:avLst/>
          </a:prstGeom>
        </p:spPr>
      </p:pic>
      <p:pic>
        <p:nvPicPr>
          <p:cNvPr id="5" name="Image 1" descr="/root/meika_build/mockup/shots/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17320"/>
            <a:ext cx="2049274" cy="4434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989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Clarity Score: 91 / 100 (Low risk)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093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outlook: budget lasts to Aug 27 at current pace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copy for review — Introduction &amp; Literature Survey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889A7B"/>
            </a:solidFill>
            <a:prstDash val="solid"/>
          </a:ln>
        </p:spPr>
      </p:sp>
      <p:pic>
        <p:nvPicPr>
          <p:cNvPr id="5" name="Image 0" descr="/root/meika_build/mockup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Meika: An Explainable AI-Based Personal Financial Copilot for Predictive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Budgeting, Goal Forecasting, and Financial Risk Analysis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26060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 Linton Prince · Kannapiran R · Baskar Adithiya S — Dept. of CSE (AI &amp; ML), Hindustan Institute of Technology and Science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9260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8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IEEEtran format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9EFE6"/>
          </a:solidFill>
          <a:ln/>
        </p:spPr>
      </p:sp>
      <p:pic>
        <p:nvPicPr>
          <p:cNvPr id="10" name="Image 1" descr="/root/meika_build/mockup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393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6393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77240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— problem, approach, and contribution in ~200 words.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15968" y="34290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9EFE6"/>
          </a:solidFill>
          <a:ln/>
        </p:spPr>
      </p:sp>
      <p:pic>
        <p:nvPicPr>
          <p:cNvPr id="14" name="Image 2" descr="/root/meika_build/mockup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63931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4648" y="36393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44568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— domain, motivation, and overview, matching this presentation.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083296" y="34290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9EFE6"/>
          </a:solidFill>
          <a:ln/>
        </p:spPr>
      </p:sp>
      <p:pic>
        <p:nvPicPr>
          <p:cNvPr id="18" name="Image 3" descr="/root/meika_build/mockup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363931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51976" y="36393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11896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— 7 references reviewed in prose form.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50749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2F2F2F"/>
          </a:solidFill>
          <a:ln/>
        </p:spPr>
      </p:sp>
      <p:sp>
        <p:nvSpPr>
          <p:cNvPr id="22" name="Text 16"/>
          <p:cNvSpPr/>
          <p:nvPr/>
        </p:nvSpPr>
        <p:spPr>
          <a:xfrm>
            <a:off x="822960" y="5074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8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panel:  </a:t>
            </a:r>
            <a:pPr indent="0" marL="0">
              <a:buNone/>
            </a:pPr>
            <a:r>
              <a:rPr lang="en-US" sz="11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soft copy (PDF) of the Introduction and Literature Survey sections will be shown on a laptop/tablet during this review.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2" y="868680"/>
            <a:ext cx="1536192" cy="1536192"/>
          </a:xfrm>
          <a:prstGeom prst="ellipse">
            <a:avLst/>
          </a:prstGeom>
          <a:solidFill>
            <a:srgbClr val="FBFBF7"/>
          </a:solidFill>
          <a:ln/>
        </p:spPr>
      </p:sp>
      <p:pic>
        <p:nvPicPr>
          <p:cNvPr id="3" name="Image 0" descr="/root/meika_build/mockup/icons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042416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FB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12700">
            <a:solidFill>
              <a:srgbClr val="555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Meika — Spend Savvy. Live Fully.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2026-08-13T15:53:51Z</dcterms:created>
  <dcterms:modified xsi:type="dcterms:W3CDTF">2026-08-13T15:53:51Z</dcterms:modified>
</cp:coreProperties>
</file>